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74" r:id="rId6"/>
    <p:sldId id="278" r:id="rId7"/>
    <p:sldId id="280" r:id="rId8"/>
    <p:sldId id="283" r:id="rId9"/>
    <p:sldId id="286" r:id="rId10"/>
    <p:sldId id="285" r:id="rId11"/>
    <p:sldId id="292" r:id="rId12"/>
    <p:sldId id="271" r:id="rId13"/>
    <p:sldId id="281" r:id="rId14"/>
    <p:sldId id="287" r:id="rId15"/>
    <p:sldId id="289" r:id="rId16"/>
    <p:sldId id="288" r:id="rId17"/>
    <p:sldId id="290" r:id="rId18"/>
    <p:sldId id="291" r:id="rId19"/>
    <p:sldId id="268" r:id="rId20"/>
    <p:sldId id="269" r:id="rId2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p:scale>
          <a:sx n="66" d="100"/>
          <a:sy n="66" d="100"/>
        </p:scale>
        <p:origin x="2035" y="12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07-04-2026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486852"/>
          </a:xfrm>
          <a:prstGeom prst="rect">
            <a:avLst/>
          </a:prstGeom>
        </p:spPr>
        <p:txBody>
          <a:bodyPr vert="horz" wrap="square" lIns="0" tIns="16510" rIns="0" bIns="0" rtlCol="0">
            <a:spAutoFit/>
          </a:bodyPr>
          <a:lstStyle/>
          <a:p>
            <a:pPr algn="ctr">
              <a:lnSpc>
                <a:spcPct val="100000"/>
              </a:lnSpc>
              <a:spcBef>
                <a:spcPts val="130"/>
              </a:spcBef>
            </a:pPr>
            <a:r>
              <a:rPr lang="en-IN" sz="2400" dirty="0"/>
              <a:t>Student Course Registration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err="1">
                <a:solidFill>
                  <a:srgbClr val="17375E"/>
                </a:solidFill>
                <a:latin typeface="Times New Roman" panose="02020603050405020304" pitchFamily="18" charset="0"/>
                <a:cs typeface="Times New Roman" panose="02020603050405020304" pitchFamily="18" charset="0"/>
              </a:rPr>
              <a:t>E.Dedeepya</a:t>
            </a:r>
            <a:r>
              <a:rPr lang="en-IN" sz="2000" spc="-10" dirty="0">
                <a:solidFill>
                  <a:srgbClr val="17375E"/>
                </a:solidFill>
                <a:latin typeface="Times New Roman" panose="02020603050405020304" pitchFamily="18" charset="0"/>
                <a:cs typeface="Times New Roman" panose="02020603050405020304" pitchFamily="18" charset="0"/>
              </a:rPr>
              <a:t>(24B11DS057)</a:t>
            </a:r>
          </a:p>
          <a:p>
            <a:pPr algn="ctr">
              <a:lnSpc>
                <a:spcPct val="100000"/>
              </a:lnSpc>
              <a:spcBef>
                <a:spcPts val="130"/>
              </a:spcBef>
            </a:pPr>
            <a:r>
              <a:rPr lang="en-IN" sz="2000" spc="-10" dirty="0" err="1">
                <a:solidFill>
                  <a:srgbClr val="17375E"/>
                </a:solidFill>
                <a:latin typeface="Times New Roman" panose="02020603050405020304" pitchFamily="18" charset="0"/>
                <a:cs typeface="Times New Roman" panose="02020603050405020304" pitchFamily="18" charset="0"/>
              </a:rPr>
              <a:t>CH.Laasya</a:t>
            </a:r>
            <a:r>
              <a:rPr lang="en-IN" sz="2000" spc="-10" dirty="0">
                <a:solidFill>
                  <a:srgbClr val="17375E"/>
                </a:solidFill>
                <a:latin typeface="Times New Roman" panose="02020603050405020304" pitchFamily="18" charset="0"/>
                <a:cs typeface="Times New Roman" panose="02020603050405020304" pitchFamily="18" charset="0"/>
              </a:rPr>
              <a:t>(24B11AI065)</a:t>
            </a:r>
          </a:p>
          <a:p>
            <a:pPr marL="3810" algn="ctr">
              <a:lnSpc>
                <a:spcPct val="100000"/>
              </a:lnSpc>
              <a:spcBef>
                <a:spcPts val="750"/>
              </a:spcBef>
            </a:pPr>
            <a:r>
              <a:rPr lang="en-IN" sz="2000" spc="-10" dirty="0" err="1">
                <a:solidFill>
                  <a:srgbClr val="17375E"/>
                </a:solidFill>
                <a:latin typeface="Times New Roman" panose="02020603050405020304" pitchFamily="18" charset="0"/>
                <a:cs typeface="Times New Roman" panose="02020603050405020304" pitchFamily="18" charset="0"/>
              </a:rPr>
              <a:t>T.Sravanthi</a:t>
            </a:r>
            <a:r>
              <a:rPr lang="en-IN" sz="2000" spc="-10" dirty="0">
                <a:solidFill>
                  <a:srgbClr val="17375E"/>
                </a:solidFill>
                <a:latin typeface="Times New Roman" panose="02020603050405020304" pitchFamily="18" charset="0"/>
                <a:cs typeface="Times New Roman" panose="02020603050405020304" pitchFamily="18" charset="0"/>
              </a:rPr>
              <a:t>(24B11CS432)</a:t>
            </a:r>
          </a:p>
          <a:p>
            <a:pPr marL="3810" algn="ctr">
              <a:lnSpc>
                <a:spcPct val="100000"/>
              </a:lnSpc>
              <a:spcBef>
                <a:spcPts val="750"/>
              </a:spcBef>
            </a:pPr>
            <a:r>
              <a:rPr lang="en-IN" sz="2000" spc="-10" dirty="0" err="1">
                <a:solidFill>
                  <a:srgbClr val="17375E"/>
                </a:solidFill>
                <a:latin typeface="Times New Roman" panose="02020603050405020304" pitchFamily="18" charset="0"/>
                <a:cs typeface="Times New Roman" panose="02020603050405020304" pitchFamily="18" charset="0"/>
              </a:rPr>
              <a:t>S.Trishali</a:t>
            </a:r>
            <a:r>
              <a:rPr lang="en-IN" sz="2000" spc="-10" dirty="0">
                <a:solidFill>
                  <a:srgbClr val="17375E"/>
                </a:solidFill>
                <a:latin typeface="Times New Roman" panose="02020603050405020304" pitchFamily="18" charset="0"/>
                <a:cs typeface="Times New Roman" panose="02020603050405020304" pitchFamily="18" charset="0"/>
              </a:rPr>
              <a:t>(24B11CS405)</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Data Science</a:t>
            </a: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4"/>
            <a:ext cx="8648700" cy="6186309"/>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Student Course Registration System (SCRS)</a:t>
            </a:r>
            <a:r>
              <a:rPr lang="en-US" sz="2200" dirty="0">
                <a:latin typeface="Times New Roman" panose="02020603050405020304" pitchFamily="18" charset="0"/>
                <a:cs typeface="Times New Roman" panose="02020603050405020304" pitchFamily="18" charset="0"/>
              </a:rPr>
              <a:t> is a Java-based application designed to manage student enrollment and course registration efficiently.</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It allows students to register, select courses, update their details, and view enrolled courses.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system helps in reducing manual work and minimizes errors in the registration process.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It ensures better data accuracy, accessibility, and security through a centralized system.</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application maintains structured records of students and courses using a database.</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It is developed using core Java concepts along with database connectivity for efficient data storage and retrieval.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9334500" cy="4832092"/>
          </a:xfrm>
          <a:prstGeom prst="rect">
            <a:avLst/>
          </a:prstGeom>
          <a:noFill/>
        </p:spPr>
        <p:txBody>
          <a:bodyPr wrap="square" rtlCol="0">
            <a:spAutoFit/>
          </a:bodyPr>
          <a:lstStyle/>
          <a:p>
            <a:r>
              <a:rPr lang="en-US" sz="2200" dirty="0"/>
              <a:t>• </a:t>
            </a:r>
            <a:r>
              <a:rPr lang="en-US" sz="2200" dirty="0">
                <a:latin typeface="Times New Roman" panose="02020603050405020304" pitchFamily="18" charset="0"/>
                <a:cs typeface="Times New Roman" panose="02020603050405020304" pitchFamily="18" charset="0"/>
              </a:rPr>
              <a:t>In educational institutions, managing student course registrations is a critical and continuous task.</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Traditional manual registration systems are time-consuming, error-prone, and difficult to manage as the number of students and courses increases.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An automated </a:t>
            </a:r>
            <a:r>
              <a:rPr lang="en-US" sz="2200" b="1" dirty="0">
                <a:latin typeface="Times New Roman" panose="02020603050405020304" pitchFamily="18" charset="0"/>
                <a:cs typeface="Times New Roman" panose="02020603050405020304" pitchFamily="18" charset="0"/>
              </a:rPr>
              <a:t>Student Course Registration System (SCRS)</a:t>
            </a:r>
            <a:r>
              <a:rPr lang="en-US" sz="2200" dirty="0">
                <a:latin typeface="Times New Roman" panose="02020603050405020304" pitchFamily="18" charset="0"/>
                <a:cs typeface="Times New Roman" panose="02020603050405020304" pitchFamily="18" charset="0"/>
              </a:rPr>
              <a:t> simplifies the process of student enrollment and course management.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system helps in improving efficiency, reducing errors, and maintaining accurate student and course records.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This project focuses on developing a console/GUI-based Java application for effective student course registration and management</a:t>
            </a:r>
            <a:r>
              <a:rPr lang="en-US" sz="2200" dirty="0"/>
              <a:t>.</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322610"/>
            <a:ext cx="8534400" cy="5878532"/>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r>
              <a:rPr lang="en-US" sz="2200" dirty="0">
                <a:latin typeface="Times New Roman" panose="02020603050405020304" pitchFamily="18" charset="0"/>
                <a:cs typeface="Times New Roman" panose="02020603050405020304" pitchFamily="18" charset="0"/>
              </a:rPr>
              <a:t>• The system allows adding new student details such as Student ID, name, course, department, and contact information.</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It provides functionality for students to register and select available courses.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system allows updating student details and modifying course selections whenever required.</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Authorized users can delete student records or cancel course registrations with proper confirmation.</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system supports searching student information using Student ID or name.</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It enables viewing the list of available courses and enrolled students</a:t>
            </a:r>
            <a:r>
              <a:rPr lang="en-US" sz="2200" dirty="0"/>
              <a:t>.</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 or more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 Eclipse / IntelliJ IDEA</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 / SQLite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459209" y="1538820"/>
            <a:ext cx="9599191" cy="5509200"/>
          </a:xfrm>
          <a:prstGeom prst="rect">
            <a:avLst/>
          </a:prstGeom>
          <a:noFill/>
        </p:spPr>
        <p:txBody>
          <a:bodyPr wrap="square" rtlCol="0">
            <a:spAutoFit/>
          </a:bodyPr>
          <a:lstStyle/>
          <a:p>
            <a:r>
              <a:rPr lang="en-US" sz="2200" dirty="0"/>
              <a:t>• </a:t>
            </a:r>
            <a:r>
              <a:rPr lang="en-US" sz="2200" dirty="0">
                <a:latin typeface="Times New Roman" panose="02020603050405020304" pitchFamily="18" charset="0"/>
                <a:cs typeface="Times New Roman" panose="02020603050405020304" pitchFamily="18" charset="0"/>
              </a:rPr>
              <a:t>The system uses a relational database to store student and course information efficiently.</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It consists of two main tables: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 Student Table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 Course Table</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design helps in reducing data redundancy and improving data organization.</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Each student is linked to courses through a registration relationship (can be implemented using a separate Registration table).</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The database ensures data integrity using primary keys and constraints.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Foreign key relationships are used to maintain proper connections between students and courses</a:t>
            </a:r>
            <a:r>
              <a:rPr lang="en-US" sz="2200" dirty="0"/>
              <a:t>.</a:t>
            </a:r>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290750" y="2048470"/>
            <a:ext cx="8609598"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Students Table :</a:t>
            </a:r>
          </a:p>
          <a:p>
            <a:r>
              <a:rPr lang="en-US" dirty="0">
                <a:latin typeface="Times New Roman" panose="02020603050405020304" pitchFamily="18" charset="0"/>
                <a:cs typeface="Times New Roman" panose="02020603050405020304" pitchFamily="18" charset="0"/>
              </a:rPr>
              <a:t>	</a:t>
            </a:r>
            <a:r>
              <a:rPr lang="en-US" sz="1800" dirty="0">
                <a:solidFill>
                  <a:srgbClr val="1F1F1F"/>
                </a:solidFill>
                <a:latin typeface="Times New Roman" panose="02020603050405020304" pitchFamily="18" charset="0"/>
                <a:ea typeface="Calibri" pitchFamily="34" charset="-122"/>
                <a:cs typeface="Times New Roman" panose="02020603050405020304" pitchFamily="18" charset="0"/>
              </a:rPr>
              <a:t>Stores all registered student account details and login credentials</a:t>
            </a:r>
            <a:r>
              <a:rPr lang="en-US" sz="1800" dirty="0">
                <a:solidFill>
                  <a:srgbClr val="1F1F1F"/>
                </a:solidFill>
                <a:latin typeface="Calibri" pitchFamily="34" charset="0"/>
                <a:ea typeface="Calibri" pitchFamily="34" charset="-122"/>
                <a:cs typeface="Calibri" pitchFamily="34" charset="-120"/>
              </a:rPr>
              <a:t>.</a:t>
            </a:r>
            <a:endParaRPr lang="en-US" sz="1800" dirty="0"/>
          </a:p>
          <a:p>
            <a:endParaRPr lang="en-IN" b="1" dirty="0"/>
          </a:p>
        </p:txBody>
      </p:sp>
      <p:pic>
        <p:nvPicPr>
          <p:cNvPr id="64" name="Picture 63">
            <a:extLst>
              <a:ext uri="{FF2B5EF4-FFF2-40B4-BE49-F238E27FC236}">
                <a16:creationId xmlns:a16="http://schemas.microsoft.com/office/drawing/2014/main" id="{8C2815E6-0975-2009-18D6-D4545C758FBB}"/>
              </a:ext>
            </a:extLst>
          </p:cNvPr>
          <p:cNvPicPr>
            <a:picLocks noChangeAspect="1"/>
          </p:cNvPicPr>
          <p:nvPr/>
        </p:nvPicPr>
        <p:blipFill>
          <a:blip r:embed="rId7"/>
          <a:stretch>
            <a:fillRect/>
          </a:stretch>
        </p:blipFill>
        <p:spPr>
          <a:xfrm>
            <a:off x="35312" y="3200400"/>
            <a:ext cx="9899894" cy="3407631"/>
          </a:xfrm>
          <a:prstGeom prst="rect">
            <a:avLst/>
          </a:prstGeom>
        </p:spPr>
      </p:pic>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290750" y="2005523"/>
            <a:ext cx="8609598"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Admin Table :</a:t>
            </a:r>
          </a:p>
          <a:p>
            <a:pPr marL="0" indent="0">
              <a:buNone/>
            </a:pPr>
            <a:r>
              <a:rPr lang="en-US" dirty="0">
                <a:latin typeface="Times New Roman" panose="02020603050405020304" pitchFamily="18" charset="0"/>
                <a:cs typeface="Times New Roman" panose="02020603050405020304" pitchFamily="18" charset="0"/>
              </a:rPr>
              <a:t>	</a:t>
            </a:r>
            <a:r>
              <a:rPr lang="en-US" sz="1800" dirty="0">
                <a:solidFill>
                  <a:srgbClr val="1F1F1F"/>
                </a:solidFill>
                <a:latin typeface="Times New Roman" panose="02020603050405020304" pitchFamily="18" charset="0"/>
                <a:ea typeface="Calibri" pitchFamily="34" charset="-122"/>
                <a:cs typeface="Times New Roman" panose="02020603050405020304" pitchFamily="18" charset="0"/>
              </a:rPr>
              <a:t>Stores administrator login credentials for system management.</a:t>
            </a:r>
            <a:endParaRPr lang="en-US" sz="1800" dirty="0">
              <a:latin typeface="Times New Roman" panose="02020603050405020304" pitchFamily="18" charset="0"/>
              <a:cs typeface="Times New Roman" panose="02020603050405020304" pitchFamily="18" charset="0"/>
            </a:endParaRPr>
          </a:p>
          <a:p>
            <a:endParaRPr lang="en-IN" b="1" dirty="0"/>
          </a:p>
        </p:txBody>
      </p:sp>
      <p:pic>
        <p:nvPicPr>
          <p:cNvPr id="4" name="Picture 3">
            <a:extLst>
              <a:ext uri="{FF2B5EF4-FFF2-40B4-BE49-F238E27FC236}">
                <a16:creationId xmlns:a16="http://schemas.microsoft.com/office/drawing/2014/main" id="{D70BF40B-9D4C-DB7E-BFCE-74144FABF64B}"/>
              </a:ext>
            </a:extLst>
          </p:cNvPr>
          <p:cNvPicPr>
            <a:picLocks noChangeAspect="1"/>
          </p:cNvPicPr>
          <p:nvPr/>
        </p:nvPicPr>
        <p:blipFill>
          <a:blip r:embed="rId7"/>
          <a:stretch>
            <a:fillRect/>
          </a:stretch>
        </p:blipFill>
        <p:spPr>
          <a:xfrm>
            <a:off x="0" y="2922178"/>
            <a:ext cx="10048957" cy="4088222"/>
          </a:xfrm>
          <a:prstGeom prst="rect">
            <a:avLst/>
          </a:prstGeom>
        </p:spPr>
      </p:pic>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290750" y="2005523"/>
            <a:ext cx="8609598" cy="92333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Courses Table :</a:t>
            </a:r>
          </a:p>
          <a:p>
            <a:pPr marL="0" indent="0">
              <a:buNone/>
            </a:pPr>
            <a:r>
              <a:rPr lang="en-US" dirty="0">
                <a:latin typeface="Times New Roman" panose="02020603050405020304" pitchFamily="18" charset="0"/>
                <a:cs typeface="Times New Roman" panose="02020603050405020304" pitchFamily="18" charset="0"/>
              </a:rPr>
              <a:t>	</a:t>
            </a:r>
            <a:r>
              <a:rPr lang="en-US" sz="1800" dirty="0">
                <a:solidFill>
                  <a:srgbClr val="1F1F1F"/>
                </a:solidFill>
                <a:latin typeface="Times New Roman" panose="02020603050405020304" pitchFamily="18" charset="0"/>
                <a:ea typeface="Calibri" pitchFamily="34" charset="-122"/>
                <a:cs typeface="Times New Roman" panose="02020603050405020304" pitchFamily="18" charset="0"/>
              </a:rPr>
              <a:t>Master list of all courses offered in the registration system</a:t>
            </a:r>
            <a:r>
              <a:rPr lang="en-US" sz="1800" dirty="0">
                <a:solidFill>
                  <a:srgbClr val="1F1F1F"/>
                </a:solidFill>
                <a:latin typeface="Calibri" pitchFamily="34" charset="0"/>
                <a:ea typeface="Calibri" pitchFamily="34" charset="-122"/>
                <a:cs typeface="Calibri" pitchFamily="34" charset="-120"/>
              </a:rPr>
              <a:t>.</a:t>
            </a:r>
            <a:endParaRPr lang="en-US" sz="1800" dirty="0"/>
          </a:p>
          <a:p>
            <a:endParaRPr lang="en-IN" b="1" dirty="0"/>
          </a:p>
        </p:txBody>
      </p:sp>
      <p:pic>
        <p:nvPicPr>
          <p:cNvPr id="13" name="Picture 12">
            <a:extLst>
              <a:ext uri="{FF2B5EF4-FFF2-40B4-BE49-F238E27FC236}">
                <a16:creationId xmlns:a16="http://schemas.microsoft.com/office/drawing/2014/main" id="{0B55C3E1-905E-5E70-D077-C2C51E32FFE7}"/>
              </a:ext>
            </a:extLst>
          </p:cNvPr>
          <p:cNvPicPr>
            <a:picLocks noChangeAspect="1"/>
          </p:cNvPicPr>
          <p:nvPr/>
        </p:nvPicPr>
        <p:blipFill>
          <a:blip r:embed="rId7"/>
          <a:stretch>
            <a:fillRect/>
          </a:stretch>
        </p:blipFill>
        <p:spPr>
          <a:xfrm>
            <a:off x="56776" y="2980988"/>
            <a:ext cx="9944848" cy="4152021"/>
          </a:xfrm>
          <a:prstGeom prst="rect">
            <a:avLst/>
          </a:prstGeom>
        </p:spPr>
      </p:pic>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E4DBE7-47CA-422C-6574-0683E40D9110}"/>
              </a:ext>
            </a:extLst>
          </p:cNvPr>
          <p:cNvPicPr>
            <a:picLocks noChangeAspect="1"/>
          </p:cNvPicPr>
          <p:nvPr/>
        </p:nvPicPr>
        <p:blipFill>
          <a:blip r:embed="rId2"/>
          <a:stretch>
            <a:fillRect/>
          </a:stretch>
        </p:blipFill>
        <p:spPr>
          <a:xfrm>
            <a:off x="124216" y="2447330"/>
            <a:ext cx="9857984" cy="4544281"/>
          </a:xfrm>
          <a:prstGeom prst="rect">
            <a:avLst/>
          </a:prstGeom>
        </p:spPr>
      </p:pic>
      <p:sp>
        <p:nvSpPr>
          <p:cNvPr id="5" name="TextBox 4">
            <a:extLst>
              <a:ext uri="{FF2B5EF4-FFF2-40B4-BE49-F238E27FC236}">
                <a16:creationId xmlns:a16="http://schemas.microsoft.com/office/drawing/2014/main" id="{A216D90E-DBD5-A3F3-6152-E333FD93B285}"/>
              </a:ext>
            </a:extLst>
          </p:cNvPr>
          <p:cNvSpPr txBox="1"/>
          <p:nvPr/>
        </p:nvSpPr>
        <p:spPr>
          <a:xfrm>
            <a:off x="152400" y="762000"/>
            <a:ext cx="5029200" cy="369332"/>
          </a:xfrm>
          <a:prstGeom prst="rect">
            <a:avLst/>
          </a:prstGeom>
          <a:noFill/>
        </p:spPr>
        <p:txBody>
          <a:bodyPr wrap="square">
            <a:spAutoFit/>
          </a:bodyPr>
          <a:lstStyle/>
          <a:p>
            <a:pPr marL="0" indent="0">
              <a:buNone/>
            </a:pPr>
            <a:r>
              <a:rPr lang="en-US" sz="1800" b="1" dirty="0">
                <a:solidFill>
                  <a:srgbClr val="000000"/>
                </a:solidFill>
                <a:latin typeface="Times New Roman" panose="02020603050405020304" pitchFamily="18" charset="0"/>
                <a:ea typeface="Calibri" pitchFamily="34" charset="-122"/>
                <a:cs typeface="Times New Roman" panose="02020603050405020304" pitchFamily="18" charset="0"/>
              </a:rPr>
              <a:t>Database Tables:</a:t>
            </a:r>
            <a:endParaRPr lang="en-US"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32446B-F1AD-C63B-1B07-A8B1E4BBA805}"/>
              </a:ext>
            </a:extLst>
          </p:cNvPr>
          <p:cNvSpPr txBox="1"/>
          <p:nvPr/>
        </p:nvSpPr>
        <p:spPr>
          <a:xfrm>
            <a:off x="152400" y="1524000"/>
            <a:ext cx="8915400" cy="923330"/>
          </a:xfrm>
          <a:prstGeom prst="rect">
            <a:avLst/>
          </a:prstGeom>
          <a:noFill/>
        </p:spPr>
        <p:txBody>
          <a:bodyPr wrap="square">
            <a:spAutoFit/>
          </a:bodyPr>
          <a:lstStyle/>
          <a:p>
            <a:pPr marL="0" indent="0">
              <a:buNone/>
            </a:pPr>
            <a:r>
              <a:rPr lang="en-US" sz="1800" b="1" dirty="0">
                <a:solidFill>
                  <a:srgbClr val="000000"/>
                </a:solidFill>
                <a:latin typeface="Times New Roman" panose="02020603050405020304" pitchFamily="18" charset="0"/>
                <a:ea typeface="Calibri" pitchFamily="34" charset="-122"/>
                <a:cs typeface="Times New Roman" panose="02020603050405020304" pitchFamily="18" charset="0"/>
              </a:rPr>
              <a:t>Enrollments Table :</a:t>
            </a:r>
          </a:p>
          <a:p>
            <a:r>
              <a:rPr lang="en-US" b="1" dirty="0">
                <a:solidFill>
                  <a:srgbClr val="000000"/>
                </a:solidFill>
                <a:latin typeface="Times New Roman" panose="02020603050405020304" pitchFamily="18" charset="0"/>
                <a:ea typeface="Calibri" pitchFamily="34" charset="-122"/>
                <a:cs typeface="Times New Roman" panose="02020603050405020304" pitchFamily="18" charset="0"/>
              </a:rPr>
              <a:t>                        </a:t>
            </a:r>
            <a:r>
              <a:rPr lang="en-US" sz="1800" dirty="0">
                <a:solidFill>
                  <a:srgbClr val="1F1F1F"/>
                </a:solidFill>
                <a:latin typeface="Times New Roman" panose="02020603050405020304" pitchFamily="18" charset="0"/>
                <a:ea typeface="Calibri" pitchFamily="34" charset="-122"/>
                <a:cs typeface="Times New Roman" panose="02020603050405020304" pitchFamily="18" charset="0"/>
              </a:rPr>
              <a:t>Tracks student course enrollments, drops, and enrollment history.</a:t>
            </a: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p>
        </p:txBody>
      </p:sp>
    </p:spTree>
    <p:extLst>
      <p:ext uri="{BB962C8B-B14F-4D97-AF65-F5344CB8AC3E}">
        <p14:creationId xmlns:p14="http://schemas.microsoft.com/office/powerpoint/2010/main" val="1621709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381000" y="1186312"/>
            <a:ext cx="8365872"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381000" y="1917072"/>
            <a:ext cx="9372599" cy="458587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Login Module</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Validates student and admin credentials to ensure authorized access to the system.</a:t>
            </a:r>
          </a:p>
          <a:p>
            <a:r>
              <a:rPr lang="en-US" sz="2000" b="1" dirty="0">
                <a:latin typeface="Times New Roman" panose="02020603050405020304" pitchFamily="18" charset="0"/>
                <a:cs typeface="Times New Roman" panose="02020603050405020304" pitchFamily="18" charset="0"/>
              </a:rPr>
              <a:t>Student Registration Module:</a:t>
            </a:r>
          </a:p>
          <a:p>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Captures and stores new student details such as Student ID, name, email, phone, and password.</a:t>
            </a:r>
          </a:p>
          <a:p>
            <a:r>
              <a:rPr lang="en-US" sz="2100" b="1" dirty="0">
                <a:latin typeface="Times New Roman" panose="02020603050405020304" pitchFamily="18" charset="0"/>
                <a:cs typeface="Times New Roman" panose="02020603050405020304" pitchFamily="18" charset="0"/>
              </a:rPr>
              <a:t>Course Management Module</a:t>
            </a:r>
            <a:r>
              <a:rPr lang="en-US" sz="2200" b="1"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Enables admin to add, update, and delete course records including instructor, credits, and capacity.</a:t>
            </a:r>
          </a:p>
          <a:p>
            <a:r>
              <a:rPr lang="en-US" sz="2100" b="1" dirty="0">
                <a:latin typeface="Times New Roman" panose="02020603050405020304" pitchFamily="18" charset="0"/>
                <a:cs typeface="Times New Roman" panose="02020603050405020304" pitchFamily="18" charset="0"/>
              </a:rPr>
              <a:t>Course Enrollment Module:</a:t>
            </a:r>
          </a:p>
          <a:p>
            <a:r>
              <a:rPr lang="en-US" sz="2000" dirty="0">
                <a:latin typeface="Times New Roman" panose="02020603050405020304" pitchFamily="18" charset="0"/>
                <a:cs typeface="Times New Roman" panose="02020603050405020304" pitchFamily="18" charset="0"/>
              </a:rPr>
              <a:t> Allows students to browse available courses, enroll in them, and drop courses with prerequisite validation.</a:t>
            </a:r>
          </a:p>
          <a:p>
            <a:r>
              <a:rPr lang="en-US" sz="2100" b="1" dirty="0">
                <a:latin typeface="Times New Roman" panose="02020603050405020304" pitchFamily="18" charset="0"/>
                <a:cs typeface="Times New Roman" panose="02020603050405020304" pitchFamily="18" charset="0"/>
              </a:rPr>
              <a:t>Waitlist Module:</a:t>
            </a:r>
          </a:p>
          <a:p>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Automatically adds students to a waitlist queue when a course reaches full capacity</a:t>
            </a:r>
            <a:r>
              <a:rPr lang="en-US" sz="2200" dirty="0">
                <a:latin typeface="Times New Roman" panose="02020603050405020304" pitchFamily="18" charset="0"/>
                <a:cs typeface="Times New Roman" panose="02020603050405020304" pitchFamily="18" charset="0"/>
              </a:rPr>
              <a:t>.</a:t>
            </a:r>
          </a:p>
          <a:p>
            <a:endParaRPr lang="en-US" sz="2200" dirty="0"/>
          </a:p>
        </p:txBody>
      </p:sp>
    </p:spTree>
    <p:extLst>
      <p:ext uri="{BB962C8B-B14F-4D97-AF65-F5344CB8AC3E}">
        <p14:creationId xmlns:p14="http://schemas.microsoft.com/office/powerpoint/2010/main" val="31449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533400" y="849152"/>
            <a:ext cx="9220200" cy="1767150"/>
          </a:xfrm>
          <a:prstGeom prst="rect">
            <a:avLst/>
          </a:prstGeom>
          <a:noFill/>
        </p:spPr>
        <p:txBody>
          <a:bodyPr wrap="square">
            <a:spAutoFit/>
          </a:bodyPr>
          <a:lstStyle/>
          <a:p>
            <a:pPr>
              <a:lnSpc>
                <a:spcPct val="115000"/>
              </a:lnSpc>
              <a:spcAft>
                <a:spcPts val="800"/>
              </a:spcAft>
              <a:buNone/>
            </a:pPr>
            <a:r>
              <a:rPr lang="en-IN" sz="1800" b="1"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b="1" kern="100" dirty="0">
              <a:latin typeface="Calibri" panose="020F0502020204030204" pitchFamily="34" charset="0"/>
              <a:ea typeface="Calibri" panose="020F0502020204030204" pitchFamily="34" charset="0"/>
              <a:cs typeface="Gautami" panose="020B0502040204020203" pitchFamily="34" charset="0"/>
            </a:endParaRPr>
          </a:p>
          <a:p>
            <a:pPr>
              <a:lnSpc>
                <a:spcPct val="115000"/>
              </a:lnSpc>
              <a:spcAft>
                <a:spcPts val="800"/>
              </a:spcAft>
              <a:buNone/>
            </a:pPr>
            <a:r>
              <a:rPr lang="en-US" dirty="0">
                <a:latin typeface="Times New Roman" panose="02020603050405020304" pitchFamily="18" charset="0"/>
                <a:cs typeface="Times New Roman" panose="02020603050405020304" pitchFamily="18" charset="0"/>
              </a:rPr>
              <a:t>This window allows authorized users to enter their credentials to access the </a:t>
            </a:r>
            <a:r>
              <a:rPr lang="en-US" b="1" dirty="0">
                <a:latin typeface="Times New Roman" panose="02020603050405020304" pitchFamily="18" charset="0"/>
                <a:cs typeface="Times New Roman" panose="02020603050405020304" pitchFamily="18" charset="0"/>
              </a:rPr>
              <a:t>Student Course     Registration System</a:t>
            </a:r>
            <a:r>
              <a:rPr lang="en-US" dirty="0">
                <a:latin typeface="Times New Roman" panose="02020603050405020304" pitchFamily="18" charset="0"/>
                <a:cs typeface="Times New Roman" panose="02020603050405020304" pitchFamily="18" charset="0"/>
              </a:rPr>
              <a:t>. Students log in using their registered </a:t>
            </a:r>
            <a:r>
              <a:rPr lang="en-US" b="1" dirty="0">
                <a:latin typeface="Times New Roman" panose="02020603050405020304" pitchFamily="18" charset="0"/>
                <a:cs typeface="Times New Roman" panose="02020603050405020304" pitchFamily="18" charset="0"/>
              </a:rPr>
              <a:t>email address and password</a:t>
            </a:r>
            <a:r>
              <a:rPr lang="en-US" dirty="0">
                <a:latin typeface="Times New Roman" panose="02020603050405020304" pitchFamily="18" charset="0"/>
                <a:cs typeface="Times New Roman" panose="02020603050405020304" pitchFamily="18" charset="0"/>
              </a:rPr>
              <a:t>, while administrators log in using their </a:t>
            </a:r>
            <a:r>
              <a:rPr lang="en-US" b="1" dirty="0">
                <a:latin typeface="Times New Roman" panose="02020603050405020304" pitchFamily="18" charset="0"/>
                <a:cs typeface="Times New Roman" panose="02020603050405020304" pitchFamily="18" charset="0"/>
              </a:rPr>
              <a:t>username and password</a:t>
            </a:r>
            <a:r>
              <a:rPr lang="en-US" dirty="0">
                <a:latin typeface="Times New Roman" panose="02020603050405020304" pitchFamily="18" charset="0"/>
                <a:cs typeface="Times New Roman" panose="02020603050405020304" pitchFamily="18" charset="0"/>
              </a:rPr>
              <a:t> to manage courses and student enrollments</a:t>
            </a:r>
            <a:r>
              <a:rPr lang="en-US" dirty="0"/>
              <a:t>.</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p:txBody>
      </p:sp>
      <p:sp>
        <p:nvSpPr>
          <p:cNvPr id="2" name="AutoShape 2">
            <a:extLst>
              <a:ext uri="{FF2B5EF4-FFF2-40B4-BE49-F238E27FC236}">
                <a16:creationId xmlns:a16="http://schemas.microsoft.com/office/drawing/2014/main" id="{18A3E008-76A0-CA7F-0C44-A763B841F495}"/>
              </a:ext>
            </a:extLst>
          </p:cNvPr>
          <p:cNvSpPr>
            <a:spLocks noChangeAspect="1" noChangeArrowheads="1"/>
          </p:cNvSpPr>
          <p:nvPr/>
        </p:nvSpPr>
        <p:spPr bwMode="auto">
          <a:xfrm>
            <a:off x="4876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AutoShape 4">
            <a:extLst>
              <a:ext uri="{FF2B5EF4-FFF2-40B4-BE49-F238E27FC236}">
                <a16:creationId xmlns:a16="http://schemas.microsoft.com/office/drawing/2014/main" id="{BA95FB61-1B97-B402-B8B0-8FF860D95B82}"/>
              </a:ext>
            </a:extLst>
          </p:cNvPr>
          <p:cNvSpPr>
            <a:spLocks noChangeAspect="1" noChangeArrowheads="1"/>
          </p:cNvSpPr>
          <p:nvPr/>
        </p:nvSpPr>
        <p:spPr bwMode="auto">
          <a:xfrm>
            <a:off x="5029200" y="3886200"/>
            <a:ext cx="1295400" cy="1295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3E601097-AA31-7EB1-C3DB-8FF1B94DC1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3400" y="2652054"/>
            <a:ext cx="8534400" cy="4510746"/>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609600" y="919407"/>
            <a:ext cx="9144000" cy="1477328"/>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Main Window:</a:t>
            </a:r>
            <a:endParaRPr lang="en-IN" sz="1800"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window provides navigation options to perform different operations such as browsing courses, enrolling in courses, viewing enrolled courses, and accessing the student dashboard in the Course Registration System</a:t>
            </a:r>
            <a:r>
              <a:rPr lang="en-US" dirty="0"/>
              <a:t>.</a:t>
            </a:r>
            <a:endParaRPr lang="en-IN" sz="1800" dirty="0"/>
          </a:p>
        </p:txBody>
      </p:sp>
      <p:pic>
        <p:nvPicPr>
          <p:cNvPr id="4" name="Picture 3">
            <a:extLst>
              <a:ext uri="{FF2B5EF4-FFF2-40B4-BE49-F238E27FC236}">
                <a16:creationId xmlns:a16="http://schemas.microsoft.com/office/drawing/2014/main" id="{C30351EF-81D8-D184-5C05-570EC820F9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 y="2436079"/>
            <a:ext cx="8839200" cy="5336321"/>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449777"/>
            <a:ext cx="8763000"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Add Course Window:</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window allows the admin to enter and save new course details such as Course Name, Fee, and Duration into the database.</a:t>
            </a:r>
          </a:p>
        </p:txBody>
      </p:sp>
      <p:pic>
        <p:nvPicPr>
          <p:cNvPr id="4" name="Picture 3">
            <a:extLst>
              <a:ext uri="{FF2B5EF4-FFF2-40B4-BE49-F238E27FC236}">
                <a16:creationId xmlns:a16="http://schemas.microsoft.com/office/drawing/2014/main" id="{E367BCDE-D5ED-1541-332A-A76E8A16A3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 y="2666999"/>
            <a:ext cx="8763000" cy="4944303"/>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628276" y="965546"/>
            <a:ext cx="8763000"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Course Registration Window:</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This window enables the student to select and enroll in available courses. It displays all courses with their fee and duration, allows the student to tick the desired courses, and shows a confirmation dialog before completing the enrollment</a:t>
            </a:r>
            <a:r>
              <a:rPr lang="en-US" dirty="0"/>
              <a:t>.</a:t>
            </a:r>
          </a:p>
        </p:txBody>
      </p:sp>
      <p:pic>
        <p:nvPicPr>
          <p:cNvPr id="4" name="Picture 3">
            <a:extLst>
              <a:ext uri="{FF2B5EF4-FFF2-40B4-BE49-F238E27FC236}">
                <a16:creationId xmlns:a16="http://schemas.microsoft.com/office/drawing/2014/main" id="{F67B5970-E904-0763-B1AE-03DB6FF955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8276" y="2133600"/>
            <a:ext cx="8763000" cy="5192063"/>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290750" y="1283970"/>
            <a:ext cx="9448800" cy="5909310"/>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The </a:t>
            </a:r>
            <a:r>
              <a:rPr lang="en-US" sz="2100" b="1" dirty="0">
                <a:latin typeface="Times New Roman" panose="02020603050405020304" pitchFamily="18" charset="0"/>
                <a:cs typeface="Times New Roman" panose="02020603050405020304" pitchFamily="18" charset="0"/>
              </a:rPr>
              <a:t>Student Course Registration System</a:t>
            </a:r>
            <a:r>
              <a:rPr lang="en-US" sz="2100" dirty="0">
                <a:latin typeface="Times New Roman" panose="02020603050405020304" pitchFamily="18" charset="0"/>
                <a:cs typeface="Times New Roman" panose="02020603050405020304" pitchFamily="18" charset="0"/>
              </a:rPr>
              <a:t> developed in this project provides basic functionalities for managing student enrollments and course registrations. </a:t>
            </a:r>
          </a:p>
          <a:p>
            <a:r>
              <a:rPr lang="en-US" sz="2100" dirty="0">
                <a:latin typeface="Times New Roman" panose="02020603050405020304" pitchFamily="18" charset="0"/>
                <a:cs typeface="Times New Roman" panose="02020603050405020304" pitchFamily="18" charset="0"/>
              </a:rPr>
              <a:t>However, the system can be further enhanced by adding advanced features to improve its functionality and usability.</a:t>
            </a:r>
          </a:p>
          <a:p>
            <a:r>
              <a:rPr lang="en-US" sz="2100" dirty="0">
                <a:latin typeface="Times New Roman" panose="02020603050405020304" pitchFamily="18" charset="0"/>
                <a:cs typeface="Times New Roman" panose="02020603050405020304" pitchFamily="18" charset="0"/>
              </a:rPr>
              <a:t>Some possible future enhancements include:</a:t>
            </a:r>
          </a:p>
          <a:p>
            <a:pPr marL="342900" indent="-342900">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Online Payment Integration:</a:t>
            </a:r>
            <a:r>
              <a:rPr lang="en-US" sz="2100" dirty="0">
                <a:latin typeface="Times New Roman" panose="02020603050405020304" pitchFamily="18" charset="0"/>
                <a:cs typeface="Times New Roman" panose="02020603050405020304" pitchFamily="18" charset="0"/>
              </a:rPr>
              <a:t> Adding fee payment, payment confirmation, and receipt generation features for course enrollments.</a:t>
            </a:r>
          </a:p>
          <a:p>
            <a:pPr marL="342900" indent="-342900">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Notification System:</a:t>
            </a:r>
            <a:r>
              <a:rPr lang="en-US" sz="2100" dirty="0">
                <a:latin typeface="Times New Roman" panose="02020603050405020304" pitchFamily="18" charset="0"/>
                <a:cs typeface="Times New Roman" panose="02020603050405020304" pitchFamily="18" charset="0"/>
              </a:rPr>
              <a:t> Integrating automated email or SMS notifications for enrollment confirmation, waitlist updates, and schedule changes.</a:t>
            </a:r>
          </a:p>
          <a:p>
            <a:pPr marL="342900" indent="-342900">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 Mobile Application</a:t>
            </a:r>
            <a:r>
              <a:rPr lang="en-US" sz="2100" dirty="0">
                <a:latin typeface="Times New Roman" panose="02020603050405020304" pitchFamily="18" charset="0"/>
                <a:cs typeface="Times New Roman" panose="02020603050405020304" pitchFamily="18" charset="0"/>
              </a:rPr>
              <a:t> :Developing an Android or iOS app so students can register and manage their courses directly from their smartphones</a:t>
            </a:r>
            <a:r>
              <a:rPr lang="en-US" sz="2100" dirty="0"/>
              <a:t>.</a:t>
            </a:r>
          </a:p>
          <a:p>
            <a:endParaRPr lang="en-US" sz="2100" dirty="0"/>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Chatbot Support:</a:t>
            </a:r>
            <a:r>
              <a:rPr lang="en-US" sz="2100" dirty="0">
                <a:latin typeface="Times New Roman" panose="02020603050405020304" pitchFamily="18" charset="0"/>
                <a:cs typeface="Times New Roman" panose="02020603050405020304" pitchFamily="18" charset="0"/>
              </a:rPr>
              <a:t> Adding an AI chatbot to help students with common queries like registration deadlines, course details, and fee payment — available 24/7.</a:t>
            </a:r>
          </a:p>
          <a:p>
            <a:pPr marL="342900" indent="-342900">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360139"/>
          </a:xfrm>
          <a:prstGeom prst="rect">
            <a:avLst/>
          </a:prstGeom>
          <a:noFill/>
        </p:spPr>
        <p:txBody>
          <a:bodyPr wrap="square" rtlCol="0">
            <a:spAutoFit/>
          </a:bodyPr>
          <a:lstStyle/>
          <a:p>
            <a:pPr>
              <a:lnSpc>
                <a:spcPct val="150000"/>
              </a:lnSpc>
            </a:pPr>
            <a:r>
              <a:rPr lang="en-IN" sz="2000" dirty="0"/>
              <a:t>       </a:t>
            </a:r>
            <a:r>
              <a:rPr lang="en-IN" sz="2000" dirty="0">
                <a:latin typeface="Times New Roman" panose="02020603050405020304" pitchFamily="18" charset="0"/>
                <a:cs typeface="Times New Roman" panose="02020603050405020304" pitchFamily="18" charset="0"/>
              </a:rPr>
              <a:t>The following references were used during the development of the Student Course Registration System:</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Herbert Schildt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Java: The Complete Reference</a:t>
            </a:r>
            <a:r>
              <a:rPr lang="en-IN" dirty="0">
                <a:latin typeface="Times New Roman" panose="02020603050405020304" pitchFamily="18" charset="0"/>
                <a:cs typeface="Times New Roman" panose="02020603050405020304" pitchFamily="18" charset="0"/>
              </a:rPr>
              <a:t>, Oracle Press, 11th Edition.</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 </a:t>
            </a:r>
            <a:r>
              <a:rPr lang="en-IN" b="1" dirty="0" err="1">
                <a:latin typeface="Times New Roman" panose="02020603050405020304" pitchFamily="18" charset="0"/>
                <a:cs typeface="Times New Roman" panose="02020603050405020304" pitchFamily="18" charset="0"/>
              </a:rPr>
              <a:t>Balagurusamy</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Programming with Java</a:t>
            </a:r>
            <a:r>
              <a:rPr lang="en-IN" dirty="0">
                <a:latin typeface="Times New Roman" panose="02020603050405020304" pitchFamily="18" charset="0"/>
                <a:cs typeface="Times New Roman" panose="02020603050405020304" pitchFamily="18" charset="0"/>
              </a:rPr>
              <a:t>, McGraw Hill Education.</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Korth, Silberschatz, Sudarshan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Database System Concepts</a:t>
            </a:r>
            <a:r>
              <a:rPr lang="en-IN" dirty="0">
                <a:latin typeface="Times New Roman" panose="02020603050405020304" pitchFamily="18" charset="0"/>
                <a:cs typeface="Times New Roman" panose="02020603050405020304" pitchFamily="18" charset="0"/>
              </a:rPr>
              <a:t>, McGraw Hill.</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Oracle Documentation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2"/>
              </a:rPr>
              <a:t>https://docs.oracle.com</a:t>
            </a:r>
            <a:endParaRPr lang="en-IN" dirty="0">
              <a:latin typeface="Times New Roman" panose="02020603050405020304" pitchFamily="18" charset="0"/>
              <a:cs typeface="Times New Roman" panose="02020603050405020304" pitchFamily="18" charset="0"/>
            </a:endParaRP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Java Documentation (Oracle)</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3"/>
              </a:rPr>
              <a:t>https://docs.oracle.com/javase</a:t>
            </a:r>
            <a:endParaRPr lang="en-IN" dirty="0">
              <a:latin typeface="Times New Roman" panose="02020603050405020304" pitchFamily="18" charset="0"/>
              <a:cs typeface="Times New Roman" panose="02020603050405020304" pitchFamily="18" charset="0"/>
            </a:endParaRP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JDBC Tutorial – </a:t>
            </a:r>
            <a:r>
              <a:rPr lang="en-IN" b="1"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https://www.geeksforgeeks.org/jdbc/</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Java Swing Tutorial – </a:t>
            </a:r>
            <a:r>
              <a:rPr lang="en-IN" b="1" dirty="0" err="1">
                <a:latin typeface="Times New Roman" panose="02020603050405020304" pitchFamily="18" charset="0"/>
                <a:cs typeface="Times New Roman" panose="02020603050405020304" pitchFamily="18" charset="0"/>
              </a:rPr>
              <a:t>TutorialsPoint</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https://www.tutorialspoint.com/java_swing</a:t>
            </a:r>
          </a:p>
          <a:p>
            <a:pPr marL="714375" lvl="2"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W3Schools Java Tutorial</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u="sng" dirty="0">
                <a:latin typeface="Times New Roman" panose="02020603050405020304" pitchFamily="18" charset="0"/>
                <a:cs typeface="Times New Roman" panose="02020603050405020304" pitchFamily="18" charset="0"/>
                <a:hlinkClick r:id="rId4"/>
              </a:rPr>
              <a:t>https://www.w3schools.com/java/</a:t>
            </a:r>
            <a:endParaRPr lang="en-IN" dirty="0">
              <a:latin typeface="Times New Roman" panose="02020603050405020304" pitchFamily="18" charset="0"/>
              <a:cs typeface="Times New Roman" panose="02020603050405020304" pitchFamily="18" charset="0"/>
            </a:endParaRPr>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1676400"/>
            <a:ext cx="9448800" cy="511499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Student Course Registration System</a:t>
            </a:r>
            <a:r>
              <a:rPr lang="en-US" sz="2000" dirty="0">
                <a:latin typeface="Times New Roman" panose="02020603050405020304" pitchFamily="18" charset="0"/>
                <a:cs typeface="Times New Roman" panose="02020603050405020304" pitchFamily="18" charset="0"/>
              </a:rPr>
              <a:t> was successfully developed as a desktop </a:t>
            </a:r>
            <a:r>
              <a:rPr lang="en-US" sz="2000" dirty="0" err="1">
                <a:latin typeface="Times New Roman" panose="02020603050405020304" pitchFamily="18" charset="0"/>
                <a:cs typeface="Times New Roman" panose="02020603050405020304" pitchFamily="18" charset="0"/>
              </a:rPr>
              <a:t>application. It</a:t>
            </a:r>
            <a:r>
              <a:rPr lang="en-US" sz="2000" dirty="0">
                <a:latin typeface="Times New Roman" panose="02020603050405020304" pitchFamily="18" charset="0"/>
                <a:cs typeface="Times New Roman" panose="02020603050405020304" pitchFamily="18" charset="0"/>
              </a:rPr>
              <a:t> replaces manual record-keeping with an efficient digital solution.</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provides key functionalities like student registration, course enrollment, waitlist </a:t>
            </a:r>
            <a:r>
              <a:rPr lang="en-US" sz="2000" dirty="0" err="1">
                <a:latin typeface="Times New Roman" panose="02020603050405020304" pitchFamily="18" charset="0"/>
                <a:cs typeface="Times New Roman" panose="02020603050405020304" pitchFamily="18" charset="0"/>
              </a:rPr>
              <a:t>management, prerequisite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validation, and</a:t>
            </a:r>
            <a:r>
              <a:rPr lang="en-US" sz="2000" dirty="0">
                <a:latin typeface="Times New Roman" panose="02020603050405020304" pitchFamily="18" charset="0"/>
                <a:cs typeface="Times New Roman" panose="02020603050405020304" pitchFamily="18" charset="0"/>
              </a:rPr>
              <a:t> schedule viewing.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Technologies like </a:t>
            </a:r>
            <a:r>
              <a:rPr lang="en-US" sz="2000" b="1" dirty="0">
                <a:latin typeface="Times New Roman" panose="02020603050405020304" pitchFamily="18" charset="0"/>
                <a:cs typeface="Times New Roman" panose="02020603050405020304" pitchFamily="18" charset="0"/>
              </a:rPr>
              <a:t>Java, Swing, JDBC, and Oracle Database</a:t>
            </a:r>
            <a:r>
              <a:rPr lang="en-US" sz="2000" dirty="0">
                <a:latin typeface="Times New Roman" panose="02020603050405020304" pitchFamily="18" charset="0"/>
                <a:cs typeface="Times New Roman" panose="02020603050405020304" pitchFamily="18" charset="0"/>
              </a:rPr>
              <a:t> enabled reliable performance.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improves academic administration efficiency and reduces the workload of managing student course registrations manually</a:t>
            </a:r>
            <a:r>
              <a:rPr lang="en-US" sz="2000" dirty="0"/>
              <a:t>.</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2891</TotalTime>
  <Words>1234</Words>
  <Application>Microsoft Office PowerPoint</Application>
  <PresentationFormat>Custom</PresentationFormat>
  <Paragraphs>159</Paragraphs>
  <Slides>20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PowerPoint Presentation</vt:lpstr>
      <vt:lpstr>SYSTEM DESIGN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DEDEEPYA ERKIPATI</cp:lastModifiedBy>
  <cp:revision>54</cp:revision>
  <cp:lastPrinted>2025-10-14T18:21:49Z</cp:lastPrinted>
  <dcterms:created xsi:type="dcterms:W3CDTF">2025-10-10T08:28:06Z</dcterms:created>
  <dcterms:modified xsi:type="dcterms:W3CDTF">2026-04-07T03:38:22Z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